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BEAD4-6DF5-4B40-A0AE-504388F91700}" v="3" dt="2026-08-13T12:13:43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BD0D1-889C-4EC5-BFDD-8BB8A64F064A}" type="datetimeFigureOut">
              <a:t>8/15/2026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3FF14-7783-4C65-B4F6-15D4A25DB256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208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Udemy or Coursera, which are one-directional and paid, SkillBridge supports student-to-student learning with built-in chat and booking, and remains mostly free. This comparison table is the core justification for building a new platform rather than using an existing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Udemy or Coursera, which are one-directional and paid, SkillBridge supports student-to-student learning with built-in chat and booking, and remains mostly free. This comparison table is the core justification for building a new platform rather than using an existing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03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3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822960" y="19659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together.</a:t>
            </a:r>
            <a:endParaRPr lang="en-US" sz="5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together.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41248" y="3703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</a:t>
            </a: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Student Skill Exchange Platform for peer-to-peer mentorship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1B2540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8554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kern="0" spc="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51560" y="51663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Bikram Poudel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Srijana Adhikari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Swostika Adhikari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47091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B2540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4855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5166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Indra Oli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470916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1B2540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855464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516636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Pokhara College of Management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System &amp;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1300" dirty="0"/>
          </a:p>
        </p:txBody>
      </p:sp>
      <p:sp>
        <p:nvSpPr>
          <p:cNvPr id="3" name="AutoShape 2" descr="blob:https://web.whatsapp.com/3aa97228-b7a2-4957-8054-832a3b55818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661035"/>
            <a:ext cx="2781300" cy="781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4E4BAA"/>
          </a:solidFill>
          <a:ln/>
        </p:spPr>
      </p:sp>
      <p:pic>
        <p:nvPicPr>
          <p:cNvPr id="6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606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SkillBridge?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is a student skill exchange platform that enables students to learn from each other through peer-to-peer mentorship.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43708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allows users to: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4736592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post skills they can teach and skills they want to learn. Our matching experience then connects them with the right peer mentor in a few taps.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176479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3" name="Image 1" descr="icons/dis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461" y="1838493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Mentors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858000" y="19751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mentors based on different skills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0760" y="2606040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7" name="Image 2" descr="icons/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461" y="267974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Mentors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858000" y="28163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and build a learning relationship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80760" y="3447288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1" name="Image 3" descr="icons/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461" y="3520989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3284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Mentors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58000" y="365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mentors directly in real time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080760" y="4288536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5" name="Image 4" descr="icons/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4461" y="4362237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0" y="41696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Learning Sessions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858000" y="44988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sessions that fit your calendar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80760" y="5129784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9" name="Image 5" descr="icons/tr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4461" y="5203485"/>
            <a:ext cx="419527" cy="41952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858000" y="50109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6858000" y="53400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learning progress through a dashboard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face difficulties while learning practical skills because: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2199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7" name="Image 0" descr="icons/expens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01" y="2295693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26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Platforms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platforms are often expensive for students.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17720" y="222199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2" name="Image 1" descr="icons/findMen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421" y="2295693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926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Find Mentors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329184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experienced mentors is difficult.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321040" y="222199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7" name="Image 2" descr="icons/instru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741" y="2295693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926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Instructor-Led Only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21040" y="329184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focus only on instructor-led learning.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2766060" y="441655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2" name="Image 3" descr="icons/ap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9761" y="4490253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66060" y="5120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Tools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2766060" y="548640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and booking require multiple separate applications.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69380" y="441655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7" name="Image 4" descr="icons/noPlatfor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081" y="4490253"/>
            <a:ext cx="419527" cy="41952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69380" y="5120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Peer Platform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6469380" y="548640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dedicated platform for student-to-student learning.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160520" cy="4434840"/>
          </a:xfrm>
          <a:prstGeom prst="roundRect">
            <a:avLst>
              <a:gd name="adj" fmla="val 3077"/>
            </a:avLst>
          </a:prstGeom>
          <a:solidFill>
            <a:srgbClr val="4E4BAA"/>
          </a:solidFill>
          <a:ln/>
          <a:effectLst>
            <a:outerShdw blurRad="177800" dist="50800" dir="5400000" algn="bl" rotWithShape="0">
              <a:srgbClr val="1E1B4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SkillBridge provides a single platform where students can share, learn, and grow together.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experience — replacing scattered apps, expensive courses, and guesswork with a single trusted space for peer learning.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40096" y="1993392"/>
            <a:ext cx="512064" cy="512064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1" name="Image 0" descr="icons/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664" y="2059960"/>
            <a:ext cx="378927" cy="3789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80176" y="1600200"/>
            <a:ext cx="2194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Their Knowledge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814816" y="1993392"/>
            <a:ext cx="512064" cy="512064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5" name="Image 1" descr="icons/le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384" y="2103753"/>
            <a:ext cx="378927" cy="3789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454896" y="1600200"/>
            <a:ext cx="2194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Experienced Peers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340096" y="3493008"/>
            <a:ext cx="512064" cy="512064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9" name="Image 2" descr="icons/fi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664" y="3559576"/>
            <a:ext cx="378927" cy="3789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80176" y="3099816"/>
            <a:ext cx="2194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Mentors Easily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814816" y="3493008"/>
            <a:ext cx="512064" cy="512064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3" name="Image 3" descr="icons/chat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1384" y="3559576"/>
            <a:ext cx="378927" cy="37892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54896" y="3099816"/>
            <a:ext cx="2194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Mentors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5340096" y="4992624"/>
            <a:ext cx="512064" cy="512064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7" name="Image 4" descr="icons/book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6664" y="5059192"/>
            <a:ext cx="378927" cy="37892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80176" y="4599432"/>
            <a:ext cx="2194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Learning Sessions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8814816" y="4992624"/>
            <a:ext cx="512064" cy="512064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31" name="Image 5" descr="icons/moni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1384" y="5059192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54896" y="4599432"/>
            <a:ext cx="2194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Learning Activities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&amp;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822960" cy="822960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6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5" y="18900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45920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1938528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platform that encourages students to exchange knowledge through peer-to-peer learning using a modern and user-friendly interface.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877056"/>
            <a:ext cx="475488" cy="47548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2" name="Image 1" descr="icons/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93" y="3938869"/>
            <a:ext cx="351861" cy="3518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99616" y="365760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modern and attractive UI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0" y="3877056"/>
            <a:ext cx="475488" cy="47548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6" name="Image 2" descr="icons/u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813" y="3938869"/>
            <a:ext cx="351861" cy="3518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2936" y="365760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intuitive user experience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75320" y="3877056"/>
            <a:ext cx="475488" cy="47548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0" name="Image 3" descr="icons/mentorFi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133" y="3938869"/>
            <a:ext cx="351861" cy="3518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06256" y="365760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find mentors easily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2720340" y="5495544"/>
            <a:ext cx="475488" cy="47548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4" name="Image 4" descr="icons/chat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2153" y="5557357"/>
            <a:ext cx="351861" cy="35186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351276" y="5276088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chat and session booking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423660" y="5495544"/>
            <a:ext cx="475488" cy="47548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8" name="Image 5" descr="icons/respons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5473" y="5557357"/>
            <a:ext cx="351861" cy="35186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054596" y="5276088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accessibility and responsive design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071116" y="2075688"/>
            <a:ext cx="658368" cy="65836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6" name="Image 0" descr="icons/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704" y="2161276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Students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2644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new practical skills from peers.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74436" y="2075688"/>
            <a:ext cx="658368" cy="65836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1" name="Image 1" descr="icons/begi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024" y="2161276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2644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easy guidance from experienced mentors.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477756" y="2075688"/>
            <a:ext cx="658368" cy="65836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6" name="Image 2" descr="icons/freel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344" y="2161276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Freelancers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6760" y="32644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skills and share expertise.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922776" y="4453128"/>
            <a:ext cx="658368" cy="65836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1" name="Image 3" descr="icons/selfle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8364" y="4538716"/>
            <a:ext cx="487192" cy="487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674620" y="5257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Self-Learners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811780" y="564184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at their own pace with flexible scheduling.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626096" y="4453128"/>
            <a:ext cx="658368" cy="65836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6" name="Image 4" descr="icons/men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684" y="4538716"/>
            <a:ext cx="487192" cy="4871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77940" y="5257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Mentors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515100" y="564184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others, share knowledge, and build experience.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SkillBridge differs from existing learning platforms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42062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0"/>
            <a:ext cx="19202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828800"/>
            <a:ext cx="19202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0" y="1828800"/>
            <a:ext cx="2103120" cy="594360"/>
          </a:xfrm>
          <a:prstGeom prst="rect">
            <a:avLst/>
          </a:prstGeom>
          <a:solidFill>
            <a:srgbClr val="4E4B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8288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423160"/>
            <a:ext cx="4206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423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Student-to-Student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423160"/>
            <a:ext cx="1920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2423160"/>
            <a:ext cx="1920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0" y="2423160"/>
            <a:ext cx="2103120" cy="594360"/>
          </a:xfrm>
          <a:prstGeom prst="rect">
            <a:avLst/>
          </a:prstGeom>
          <a:solidFill>
            <a:srgbClr val="EEEDFA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4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3017520"/>
            <a:ext cx="4206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017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Booking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3017520"/>
            <a:ext cx="1920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017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40880" y="3017520"/>
            <a:ext cx="1920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017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61120" y="3017520"/>
            <a:ext cx="2103120" cy="594360"/>
          </a:xfrm>
          <a:prstGeom prst="rect">
            <a:avLst/>
          </a:prstGeom>
          <a:solidFill>
            <a:srgbClr val="EEEDFA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4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4400" y="3611880"/>
            <a:ext cx="4206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6118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0" y="3611880"/>
            <a:ext cx="1920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611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040880" y="3611880"/>
            <a:ext cx="1920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611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61120" y="3611880"/>
            <a:ext cx="2103120" cy="594360"/>
          </a:xfrm>
          <a:prstGeom prst="rect">
            <a:avLst/>
          </a:prstGeom>
          <a:solidFill>
            <a:srgbClr val="EEEDFA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611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4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14400" y="4206240"/>
            <a:ext cx="4206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4206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Mentor Profiles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20640" y="4206240"/>
            <a:ext cx="1920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4206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040880" y="4206240"/>
            <a:ext cx="1920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4206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961120" y="4206240"/>
            <a:ext cx="2103120" cy="594360"/>
          </a:xfrm>
          <a:prstGeom prst="rect">
            <a:avLst/>
          </a:prstGeom>
          <a:solidFill>
            <a:srgbClr val="EEEDFA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4206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4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14400" y="4800600"/>
            <a:ext cx="4206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4800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Learning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20640" y="4800600"/>
            <a:ext cx="1920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4800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040880" y="4800600"/>
            <a:ext cx="1920240" cy="594360"/>
          </a:xfrm>
          <a:prstGeom prst="rect">
            <a:avLst/>
          </a:prstGeom>
          <a:solidFill>
            <a:srgbClr val="F7F7FB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4800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961120" y="4800600"/>
            <a:ext cx="2103120" cy="594360"/>
          </a:xfrm>
          <a:prstGeom prst="rect">
            <a:avLst/>
          </a:prstGeom>
          <a:solidFill>
            <a:srgbClr val="EEEDFA"/>
          </a:solidFill>
          <a:ln w="9525">
            <a:solidFill>
              <a:srgbClr val="E3E3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4800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Free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7981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Methodology</a:t>
            </a:r>
            <a:endParaRPr lang="en-US" sz="2800" dirty="0"/>
          </a:p>
        </p:txBody>
      </p:sp>
      <p:sp>
        <p:nvSpPr>
          <p:cNvPr id="54" name="Text 1"/>
          <p:cNvSpPr/>
          <p:nvPr/>
        </p:nvSpPr>
        <p:spPr>
          <a:xfrm>
            <a:off x="548640" y="10058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user-centered, iterative design process</a:t>
            </a:r>
            <a:endParaRPr lang="en-US" sz="1300" dirty="0"/>
          </a:p>
        </p:txBody>
      </p:sp>
      <p:sp>
        <p:nvSpPr>
          <p:cNvPr id="55" name="Shape 2"/>
          <p:cNvSpPr/>
          <p:nvPr/>
        </p:nvSpPr>
        <p:spPr>
          <a:xfrm>
            <a:off x="1188720" y="2377440"/>
            <a:ext cx="9811512" cy="0"/>
          </a:xfrm>
          <a:prstGeom prst="line">
            <a:avLst/>
          </a:prstGeom>
          <a:noFill/>
          <a:ln w="38100">
            <a:solidFill>
              <a:srgbClr val="4E4BAA"/>
            </a:solidFill>
            <a:prstDash val="solid"/>
          </a:ln>
        </p:spPr>
      </p:sp>
      <p:sp>
        <p:nvSpPr>
          <p:cNvPr id="56" name="Shape 3"/>
          <p:cNvSpPr/>
          <p:nvPr/>
        </p:nvSpPr>
        <p:spPr>
          <a:xfrm>
            <a:off x="932688" y="2121408"/>
            <a:ext cx="512064" cy="512064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4"/>
          <p:cNvSpPr/>
          <p:nvPr/>
        </p:nvSpPr>
        <p:spPr>
          <a:xfrm>
            <a:off x="93268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Text 5"/>
          <p:cNvSpPr/>
          <p:nvPr/>
        </p:nvSpPr>
        <p:spPr>
          <a:xfrm>
            <a:off x="182880" y="2788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</p:txBody>
      </p:sp>
      <p:sp>
        <p:nvSpPr>
          <p:cNvPr id="59" name="Shape 6"/>
          <p:cNvSpPr/>
          <p:nvPr/>
        </p:nvSpPr>
        <p:spPr>
          <a:xfrm>
            <a:off x="4203192" y="2121408"/>
            <a:ext cx="512064" cy="512064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7"/>
          <p:cNvSpPr/>
          <p:nvPr/>
        </p:nvSpPr>
        <p:spPr>
          <a:xfrm>
            <a:off x="4203192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1" name="Text 8"/>
          <p:cNvSpPr/>
          <p:nvPr/>
        </p:nvSpPr>
        <p:spPr>
          <a:xfrm>
            <a:off x="3453384" y="2788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50" dirty="0"/>
          </a:p>
        </p:txBody>
      </p:sp>
      <p:sp>
        <p:nvSpPr>
          <p:cNvPr id="62" name="Shape 9"/>
          <p:cNvSpPr/>
          <p:nvPr/>
        </p:nvSpPr>
        <p:spPr>
          <a:xfrm>
            <a:off x="7473696" y="2121408"/>
            <a:ext cx="512064" cy="512064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3" name="Text 10"/>
          <p:cNvSpPr/>
          <p:nvPr/>
        </p:nvSpPr>
        <p:spPr>
          <a:xfrm>
            <a:off x="7473696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4" name="Text 11"/>
          <p:cNvSpPr/>
          <p:nvPr/>
        </p:nvSpPr>
        <p:spPr>
          <a:xfrm>
            <a:off x="6723888" y="2788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(Figma)</a:t>
            </a:r>
            <a:endParaRPr lang="en-US" sz="1250" dirty="0"/>
          </a:p>
        </p:txBody>
      </p:sp>
      <p:sp>
        <p:nvSpPr>
          <p:cNvPr id="65" name="Shape 12"/>
          <p:cNvSpPr/>
          <p:nvPr/>
        </p:nvSpPr>
        <p:spPr>
          <a:xfrm>
            <a:off x="10744200" y="2121408"/>
            <a:ext cx="512064" cy="512064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6" name="Text 13"/>
          <p:cNvSpPr/>
          <p:nvPr/>
        </p:nvSpPr>
        <p:spPr>
          <a:xfrm>
            <a:off x="10744200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7" name="Text 14"/>
          <p:cNvSpPr/>
          <p:nvPr/>
        </p:nvSpPr>
        <p:spPr>
          <a:xfrm>
            <a:off x="9994392" y="2788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68" name="Shape 15"/>
          <p:cNvSpPr/>
          <p:nvPr/>
        </p:nvSpPr>
        <p:spPr>
          <a:xfrm>
            <a:off x="3049524" y="3794760"/>
            <a:ext cx="6089904" cy="2743469"/>
          </a:xfrm>
          <a:prstGeom prst="rect">
            <a:avLst/>
          </a:prstGeom>
          <a:solidFill>
            <a:srgbClr val="F7F7FB"/>
          </a:solidFill>
          <a:ln w="19050">
            <a:solidFill>
              <a:srgbClr val="4E4BAA"/>
            </a:solidFill>
            <a:prstDash val="solid"/>
          </a:ln>
        </p:spPr>
      </p:sp>
      <p:pic>
        <p:nvPicPr>
          <p:cNvPr id="69" name="Image 0" descr="docx_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76" y="3867912"/>
            <a:ext cx="5943600" cy="2597165"/>
          </a:xfrm>
          <a:prstGeom prst="rect">
            <a:avLst/>
          </a:prstGeom>
        </p:spPr>
      </p:pic>
      <p:sp>
        <p:nvSpPr>
          <p:cNvPr id="70" name="Text 16"/>
          <p:cNvSpPr/>
          <p:nvPr/>
        </p:nvSpPr>
        <p:spPr>
          <a:xfrm>
            <a:off x="3122676" y="6602237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wireframes → refined into the high-fidelity Figma prototype</a:t>
            </a:r>
            <a:endParaRPr lang="en-US" sz="1100" dirty="0"/>
          </a:p>
        </p:txBody>
      </p:sp>
      <p:sp>
        <p:nvSpPr>
          <p:cNvPr id="71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24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warm, welcoming landing experience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4E4BA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435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45775" y="38404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4050025" y="1673352"/>
            <a:ext cx="4091644" cy="4197096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/>
          <a:effectLst>
            <a:outerShdw blurRad="279400" dist="101600" dir="5400000" algn="bl" rotWithShape="0">
              <a:srgbClr val="1E1B4B">
                <a:alpha val="22000"/>
              </a:srgbClr>
            </a:outerShdw>
          </a:effectLst>
        </p:spPr>
      </p:sp>
      <p:pic>
        <p:nvPicPr>
          <p:cNvPr id="8" name="Image 0" descr="feat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753" y="1783080"/>
            <a:ext cx="3872188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596188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mentors, platform stats, and quick access for students to start learning or explore mentors right away.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6473952"/>
            <a:ext cx="256032" cy="256032"/>
          </a:xfrm>
          <a:prstGeom prst="ellipse">
            <a:avLst/>
          </a:prstGeom>
          <a:solidFill>
            <a:srgbClr val="4E4BAA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filter mentors by skill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4E4BA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435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Skills Page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45775" y="38404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166837" y="1673352"/>
            <a:ext cx="5858021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/>
          <a:effectLst>
            <a:outerShdw blurRad="279400" dist="101600" dir="5400000" algn="bl" rotWithShape="0">
              <a:srgbClr val="1E1B4B">
                <a:alpha val="22000"/>
              </a:srgbClr>
            </a:outerShdw>
          </a:effectLst>
        </p:spPr>
      </p:sp>
      <p:pic>
        <p:nvPicPr>
          <p:cNvPr id="8" name="Image 0" descr="feat_expl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565" y="1783080"/>
            <a:ext cx="5638565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596188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search and filter mentors across categories like coding, design, marketing, and public speaking.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Detailed, trustworthy mentor profiles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4E4BA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435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Profile Page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45775" y="38404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190774" y="1673352"/>
            <a:ext cx="5810148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/>
          <a:effectLst>
            <a:outerShdw blurRad="279400" dist="101600" dir="5400000" algn="bl" rotWithShape="0">
              <a:srgbClr val="1E1B4B">
                <a:alpha val="22000"/>
              </a:srgbClr>
            </a:outerShdw>
          </a:effectLst>
        </p:spPr>
      </p:sp>
      <p:pic>
        <p:nvPicPr>
          <p:cNvPr id="8" name="Image 0" descr="feat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502" y="1783080"/>
            <a:ext cx="5590692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596188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skills, and availability help students choose the right mentor before booking a session.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conversations before booking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4E4BA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435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</a:t>
            </a:r>
            <a:r>
              <a:rPr lang="en-US" sz="11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Booking</a:t>
            </a:r>
            <a:r>
              <a:rPr lang="en-US" sz="11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45775" y="38404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123563" y="1673352"/>
            <a:ext cx="5944569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/>
          <a:effectLst>
            <a:outerShdw blurRad="279400" dist="101600" dir="5400000" algn="bl" rotWithShape="0">
              <a:srgbClr val="1E1B4B">
                <a:alpha val="22000"/>
              </a:srgbClr>
            </a:outerShdw>
          </a:effectLst>
        </p:spPr>
      </p:sp>
      <p:pic>
        <p:nvPicPr>
          <p:cNvPr id="8" name="Image 0" descr="feat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291" y="1783080"/>
            <a:ext cx="5725113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596188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message mentors directly to ask questions and align expectations ahead of a session.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to track the whole journey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435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4E4BA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435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45775" y="38404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206812" y="1673352"/>
            <a:ext cx="5778070" cy="41970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/>
          <a:effectLst>
            <a:outerShdw blurRad="279400" dist="101600" dir="5400000" algn="bl" rotWithShape="0">
              <a:srgbClr val="1E1B4B">
                <a:alpha val="22000"/>
              </a:srgbClr>
            </a:outerShdw>
          </a:effectLst>
        </p:spPr>
      </p:sp>
      <p:pic>
        <p:nvPicPr>
          <p:cNvPr id="8" name="Image 0" descr="fea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540" y="1783080"/>
            <a:ext cx="5558614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596188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progress, upcoming sessions, and saved mentors are all visible from a single dashboard.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03911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6" name="Image 0" descr="icons/f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01" y="211281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81528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 for wireframes, UI, prototypes, and design systems — with simple team collaboration and rapid iteration.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617720" y="203911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1" name="Image 1" descr="icons/ht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421" y="211281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43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081528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behind the structure and content of the website.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321040" y="203911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6" name="Image 2" descr="icons/c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741" y="211281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43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3081528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style to the design and keeps a consistent look throughout the UI.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14400" y="423367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1" name="Image 3" descr="icons/j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101" y="430737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37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276088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interactive components and a dynamic finish to the website.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617720" y="423367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6" name="Image 4" descr="icons/tailwi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421" y="430737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937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5276088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development and provides consistent component design.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321040" y="4233672"/>
            <a:ext cx="566928" cy="566928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31" name="Image 5" descr="icons/rea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741" y="430737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937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21040" y="5276088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reusable UI components and improves overall app performance.</a:t>
            </a:r>
            <a:endParaRPr lang="en-US" sz="1080" dirty="0"/>
          </a:p>
        </p:txBody>
      </p:sp>
      <p:sp>
        <p:nvSpPr>
          <p:cNvPr id="37" name="Text 29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 &amp; Typography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1417320" cy="1417320"/>
          </a:xfrm>
          <a:prstGeom prst="roundRect">
            <a:avLst>
              <a:gd name="adj" fmla="val 10323"/>
            </a:avLst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#4E4BAA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2331720"/>
            <a:ext cx="14173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9050">
            <a:solidFill>
              <a:srgbClr val="E2E1F5"/>
            </a:solidFill>
            <a:prstDash val="solid"/>
          </a:ln>
          <a:effectLst>
            <a:outerShdw blurRad="101600" dist="38100" dir="5400000" algn="bl" rotWithShape="0">
              <a:srgbClr val="1E1B4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4114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331720"/>
            <a:ext cx="1417320" cy="1417320"/>
          </a:xfrm>
          <a:prstGeom prst="roundRect">
            <a:avLst>
              <a:gd name="adj" fmla="val 1032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1E1B4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60520" y="4114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828032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elements create a clean and consistent user interface across every page of the product.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16002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21488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0" y="3538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4E4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640080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Black &amp; Inter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0" y="5367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user flows were manually tested end-to-end to validate the prototype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206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9264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5840" y="2578608"/>
            <a:ext cx="10149840" cy="0"/>
          </a:xfrm>
          <a:prstGeom prst="line">
            <a:avLst/>
          </a:prstGeom>
          <a:noFill/>
          <a:ln w="19050">
            <a:solidFill>
              <a:srgbClr val="E2E1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4320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0" y="274320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move smoothly across all core pages.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46920" y="286207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7F8EF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920" y="28620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3364992"/>
            <a:ext cx="10149840" cy="0"/>
          </a:xfrm>
          <a:prstGeom prst="line">
            <a:avLst/>
          </a:prstGeom>
          <a:noFill/>
          <a:ln w="12700">
            <a:solidFill>
              <a:srgbClr val="F1F0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6499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Mentors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20640" y="336499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search and filtering returns accurate results.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46920" y="348386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7F8EF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34838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5840" y="3986784"/>
            <a:ext cx="10149840" cy="0"/>
          </a:xfrm>
          <a:prstGeom prst="line">
            <a:avLst/>
          </a:prstGeom>
          <a:noFill/>
          <a:ln w="12700">
            <a:solidFill>
              <a:srgbClr val="F1F0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98678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Profile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20640" y="398678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profile details load correctly and completely.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46920" y="410565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7F8EF"/>
          </a:solidFill>
          <a:ln/>
        </p:spPr>
      </p:sp>
      <p:sp>
        <p:nvSpPr>
          <p:cNvPr id="23" name="Text 21"/>
          <p:cNvSpPr/>
          <p:nvPr/>
        </p:nvSpPr>
        <p:spPr>
          <a:xfrm>
            <a:off x="9646920" y="41056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5840" y="4608576"/>
            <a:ext cx="10149840" cy="0"/>
          </a:xfrm>
          <a:prstGeom prst="line">
            <a:avLst/>
          </a:prstGeom>
          <a:noFill/>
          <a:ln w="12700">
            <a:solidFill>
              <a:srgbClr val="F1F0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60857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Session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120640" y="460857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booking flow completes without errors.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46920" y="472744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7F8EF"/>
          </a:solidFill>
          <a:ln/>
        </p:spPr>
      </p:sp>
      <p:sp>
        <p:nvSpPr>
          <p:cNvPr id="28" name="Text 26"/>
          <p:cNvSpPr/>
          <p:nvPr/>
        </p:nvSpPr>
        <p:spPr>
          <a:xfrm>
            <a:off x="9646920" y="4727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05840" y="5230368"/>
            <a:ext cx="10149840" cy="0"/>
          </a:xfrm>
          <a:prstGeom prst="line">
            <a:avLst/>
          </a:prstGeom>
          <a:noFill/>
          <a:ln w="12700">
            <a:solidFill>
              <a:srgbClr val="F1F0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23036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20640" y="523036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reflects progress and activity accurately.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646920" y="53492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7F8EF"/>
          </a:solidFill>
          <a:ln/>
        </p:spPr>
      </p:sp>
      <p:sp>
        <p:nvSpPr>
          <p:cNvPr id="33" name="Text 31"/>
          <p:cNvSpPr/>
          <p:nvPr/>
        </p:nvSpPr>
        <p:spPr>
          <a:xfrm>
            <a:off x="9646920" y="53492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the project successfully demonstrates the proposed solution, it has several limitations: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221992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9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58" y="2290938"/>
            <a:ext cx="392460" cy="392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288036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database in the current version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99432" y="2221992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3" name="Image 1" descr="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378" y="2290938"/>
            <a:ext cx="392460" cy="392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9432" y="288036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user authentication and authorization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302752" y="2221992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7" name="Image 2" descr="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698" y="2290938"/>
            <a:ext cx="392460" cy="392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88036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is not fully implemented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96112" y="4206240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1" name="Image 3" descr="icons/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058" y="4275186"/>
            <a:ext cx="392460" cy="392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864608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integration available yet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599432" y="4206240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5" name="Image 4" descr="icons/users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8378" y="4275186"/>
            <a:ext cx="392460" cy="392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99432" y="4864608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limited number of users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302752" y="4206240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9" name="Image 5" descr="icons/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1698" y="4275186"/>
            <a:ext cx="392460" cy="3924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302752" y="4864608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responsiveness can be further improved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8928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68780" y="2286000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7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26" y="2354946"/>
            <a:ext cx="392460" cy="392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1752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backend database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3575304" y="18928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21124" y="2286000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2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070" y="2354946"/>
            <a:ext cx="392460" cy="392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01752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login &amp; registration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6327648" y="18928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173468" y="2286000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7" name="Image 2" descr="icons/ra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414" y="2354946"/>
            <a:ext cx="392460" cy="392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301752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chat via WebSockets / Firebase</a:t>
            </a:r>
            <a:endParaRPr lang="en-US" sz="1180" dirty="0"/>
          </a:p>
        </p:txBody>
      </p:sp>
      <p:sp>
        <p:nvSpPr>
          <p:cNvPr id="20" name="Text 15"/>
          <p:cNvSpPr/>
          <p:nvPr/>
        </p:nvSpPr>
        <p:spPr>
          <a:xfrm>
            <a:off x="9079992" y="18928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9925812" y="2286000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2" name="Image 3" descr="icons/credit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758" y="2354946"/>
            <a:ext cx="392460" cy="392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79992" y="301752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online payment gateway</a:t>
            </a:r>
            <a:endParaRPr lang="en-US" sz="1180" dirty="0"/>
          </a:p>
        </p:txBody>
      </p:sp>
      <p:sp>
        <p:nvSpPr>
          <p:cNvPr id="25" name="Text 19"/>
          <p:cNvSpPr/>
          <p:nvPr/>
        </p:nvSpPr>
        <p:spPr>
          <a:xfrm>
            <a:off x="822960" y="42428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1668780" y="4636008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7" name="Image 4" descr="icons/smart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726" y="4704954"/>
            <a:ext cx="392460" cy="392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5367528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mobile application</a:t>
            </a:r>
            <a:endParaRPr lang="en-US" sz="1180" dirty="0"/>
          </a:p>
        </p:txBody>
      </p:sp>
      <p:sp>
        <p:nvSpPr>
          <p:cNvPr id="30" name="Text 23"/>
          <p:cNvSpPr/>
          <p:nvPr/>
        </p:nvSpPr>
        <p:spPr>
          <a:xfrm>
            <a:off x="3575304" y="42428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4421124" y="4636008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32" name="Image 5" descr="icons/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070" y="4704954"/>
            <a:ext cx="392460" cy="392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75304" y="5367528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AI-based mentor recommendations</a:t>
            </a:r>
            <a:endParaRPr lang="en-US" sz="1180" dirty="0"/>
          </a:p>
        </p:txBody>
      </p:sp>
      <p:sp>
        <p:nvSpPr>
          <p:cNvPr id="35" name="Text 27"/>
          <p:cNvSpPr/>
          <p:nvPr/>
        </p:nvSpPr>
        <p:spPr>
          <a:xfrm>
            <a:off x="6327648" y="42428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7173468" y="4636008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37" name="Image 6" descr="icons/accessibi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2414" y="4704954"/>
            <a:ext cx="392460" cy="3924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27648" y="5367528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accessibility features</a:t>
            </a:r>
            <a:endParaRPr lang="en-US" sz="1180" dirty="0"/>
          </a:p>
        </p:txBody>
      </p:sp>
      <p:sp>
        <p:nvSpPr>
          <p:cNvPr id="40" name="Text 31"/>
          <p:cNvSpPr/>
          <p:nvPr/>
        </p:nvSpPr>
        <p:spPr>
          <a:xfrm>
            <a:off x="9079992" y="42428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1" name="Shape 32"/>
          <p:cNvSpPr/>
          <p:nvPr/>
        </p:nvSpPr>
        <p:spPr>
          <a:xfrm>
            <a:off x="9925812" y="4636008"/>
            <a:ext cx="530352" cy="530352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42" name="Image 7" descr="icons/clou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94758" y="4704954"/>
            <a:ext cx="392460" cy="3924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079992" y="5367528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website on live hosting</a:t>
            </a:r>
            <a:endParaRPr lang="en-US" sz="1180" dirty="0"/>
          </a:p>
        </p:txBody>
      </p:sp>
      <p:sp>
        <p:nvSpPr>
          <p:cNvPr id="47" name="Text 37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Contribution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777240" cy="777240"/>
          </a:xfrm>
          <a:prstGeom prst="ellipse">
            <a:avLst/>
          </a:prstGeom>
          <a:solidFill>
            <a:srgbClr val="4E4BA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1856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Srijana Adhikari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057400" y="2258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and Explore Skills 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907792"/>
            <a:ext cx="777240" cy="777240"/>
          </a:xfrm>
          <a:prstGeom prst="ellipse">
            <a:avLst/>
          </a:prstGeom>
          <a:solidFill>
            <a:srgbClr val="4E4BA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57400" y="29809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Swostika Adhikari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05740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2816352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Profile Page and Chat &amp; Booking Page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4032504"/>
            <a:ext cx="777240" cy="777240"/>
          </a:xfrm>
          <a:prstGeom prst="ellipse">
            <a:avLst/>
          </a:prstGeom>
          <a:solidFill>
            <a:srgbClr val="4E4BAA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03250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057400" y="41056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Bikram Poudel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057400" y="4507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&amp; DEVELOPMENT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941064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Complete Website Development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065776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4E4BAA"/>
          </a:solidFill>
          <a:ln/>
          <a:effectLst>
            <a:outerShdw blurRad="177800" dist="50800" dir="5400000" algn="bl" rotWithShape="0">
              <a:srgbClr val="1E1B4B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5157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0120" y="54132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Documentation, Testing, Presentation, and Final Review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79552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is a student-centered platform designed to encourage collaborative learning through peer-to-peer knowledge sharing.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PROVIDES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1B2540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0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52" y="3025292"/>
            <a:ext cx="304495" cy="304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7889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UI/UX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51960" y="278892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1B2540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2971800"/>
            <a:ext cx="411480" cy="411480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4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332" y="3025292"/>
            <a:ext cx="304495" cy="3044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83480" y="27889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navigation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863840" y="278892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1B2540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2971800"/>
            <a:ext cx="411480" cy="411480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18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212" y="3025292"/>
            <a:ext cx="304495" cy="3044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27889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discovery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2446020" y="374904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1B2540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628900" y="3931920"/>
            <a:ext cx="411480" cy="411480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2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92" y="3985412"/>
            <a:ext cx="304495" cy="3044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177540" y="37490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booking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057900" y="374904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1B2540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40780" y="3931920"/>
            <a:ext cx="411480" cy="411480"/>
          </a:xfrm>
          <a:prstGeom prst="ellipse">
            <a:avLst/>
          </a:prstGeom>
          <a:solidFill>
            <a:srgbClr val="4E4BAA"/>
          </a:solidFill>
          <a:ln/>
          <a:effectLst>
            <a:outerShdw blurRad="101600" dist="38100" dir="5400000" algn="bl" rotWithShape="0">
              <a:srgbClr val="1E1B4B">
                <a:alpha val="18000"/>
              </a:srgbClr>
            </a:outerShdw>
          </a:effectLst>
        </p:spPr>
      </p:sp>
      <p:pic>
        <p:nvPicPr>
          <p:cNvPr id="26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72" y="3985412"/>
            <a:ext cx="304495" cy="3044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89420" y="37490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progress tracking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13333"/>
            </a:avLst>
          </a:prstGeom>
          <a:solidFill>
            <a:srgbClr val="4E4BAA"/>
          </a:solidFill>
          <a:ln/>
        </p:spPr>
      </p:sp>
      <p:sp>
        <p:nvSpPr>
          <p:cNvPr id="29" name="Text 22"/>
          <p:cNvSpPr/>
          <p:nvPr/>
        </p:nvSpPr>
        <p:spPr>
          <a:xfrm>
            <a:off x="960120" y="507492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SkillBridge offers an affordable, engaging, and accessible learning experience for students.</a:t>
            </a:r>
            <a:endParaRPr lang="en-US" sz="1650" dirty="0"/>
          </a:p>
        </p:txBody>
      </p:sp>
      <p:sp>
        <p:nvSpPr>
          <p:cNvPr id="32" name="Text 25"/>
          <p:cNvSpPr/>
          <p:nvPr/>
        </p:nvSpPr>
        <p:spPr>
          <a:xfrm>
            <a:off x="768096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267047" y="2011680"/>
            <a:ext cx="3657600" cy="3657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84368" y="1417320"/>
            <a:ext cx="822960" cy="822960"/>
          </a:xfrm>
          <a:prstGeom prst="roundRect">
            <a:avLst>
              <a:gd name="adj" fmla="val 24444"/>
            </a:avLst>
          </a:prstGeom>
          <a:solidFill>
            <a:srgbClr val="4E4BAA"/>
          </a:solidFill>
          <a:ln/>
          <a:effectLst>
            <a:outerShdw blurRad="177800" dist="50800" dir="5400000" algn="bl" rotWithShape="0">
              <a:srgbClr val="1E1B4B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84368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are welcome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24248" y="4160520"/>
            <a:ext cx="2743200" cy="0"/>
          </a:xfrm>
          <a:prstGeom prst="line">
            <a:avLst/>
          </a:prstGeom>
          <a:noFill/>
          <a:ln w="19050">
            <a:solidFill>
              <a:srgbClr val="2B3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Bikram Poudel   •   Srijana Adhikari   •   Swostika Adhikari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6817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Pokhara College of Management  —  BSc. CSIT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36873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1163</Words>
  <Application>Microsoft Office PowerPoint</Application>
  <PresentationFormat>Widescreen</PresentationFormat>
  <Paragraphs>293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12</cp:revision>
  <dcterms:created xsi:type="dcterms:W3CDTF">2026-08-13T09:35:46Z</dcterms:created>
  <dcterms:modified xsi:type="dcterms:W3CDTF">2026-08-15T06:34:04Z</dcterms:modified>
</cp:coreProperties>
</file>